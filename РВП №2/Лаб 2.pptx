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57" r:id="rId4"/>
    <p:sldId id="263" r:id="rId5"/>
    <p:sldId id="264" r:id="rId6"/>
    <p:sldId id="258" r:id="rId7"/>
    <p:sldId id="259" r:id="rId8"/>
    <p:sldId id="265" r:id="rId9"/>
    <p:sldId id="266" r:id="rId10"/>
    <p:sldId id="267" r:id="rId11"/>
    <p:sldId id="268" r:id="rId12"/>
    <p:sldId id="269" r:id="rId13"/>
    <p:sldId id="270" r:id="rId14"/>
    <p:sldId id="260" r:id="rId15"/>
    <p:sldId id="26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2D5E63A-EDEC-4FA4-A1B3-1864E8E9CF43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574116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E63A-EDEC-4FA4-A1B3-1864E8E9CF43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9997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2D5E63A-EDEC-4FA4-A1B3-1864E8E9CF43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167249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E63A-EDEC-4FA4-A1B3-1864E8E9CF43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4029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E63A-EDEC-4FA4-A1B3-1864E8E9CF43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59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E63A-EDEC-4FA4-A1B3-1864E8E9CF43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5754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E63A-EDEC-4FA4-A1B3-1864E8E9CF43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1996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2D5E63A-EDEC-4FA4-A1B3-1864E8E9CF43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67959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2D5E63A-EDEC-4FA4-A1B3-1864E8E9CF43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85212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E63A-EDEC-4FA4-A1B3-1864E8E9CF43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3051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5E63A-EDEC-4FA4-A1B3-1864E8E9CF43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1706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F2D5E63A-EDEC-4FA4-A1B3-1864E8E9CF43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BF2673AE-9B0B-4AB6-BB72-E2818F0CA383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9591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DA4E56-8136-D302-134A-EB6ECBB0B4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3200" b="1" dirty="0"/>
              <a:t>Лабораторная работа № 2</a:t>
            </a:r>
            <a:br>
              <a:rPr lang="ru-RU" sz="3200" b="1" dirty="0"/>
            </a:br>
            <a:r>
              <a:rPr lang="ru-RU" sz="3200" b="1" dirty="0"/>
              <a:t>форматирование текста</a:t>
            </a:r>
            <a:br>
              <a:rPr lang="ru-RU" b="1" dirty="0"/>
            </a:br>
            <a:endParaRPr lang="ru-RU" sz="36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6CF6AE2-A177-F951-2646-D52E89BC37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</a:t>
            </a:r>
            <a:r>
              <a:rPr lang="en-US" dirty="0"/>
              <a:t>:</a:t>
            </a:r>
            <a:r>
              <a:rPr lang="ru-RU" dirty="0"/>
              <a:t> Приймак В.И.</a:t>
            </a:r>
          </a:p>
          <a:p>
            <a:pPr algn="r"/>
            <a:r>
              <a:rPr lang="ru-RU" dirty="0"/>
              <a:t>Проверил</a:t>
            </a:r>
            <a:r>
              <a:rPr lang="en-US" dirty="0"/>
              <a:t>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4215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A3853-302F-938C-9753-DFFFF3904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77FA61-8790-C95F-97EF-44392A0CF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100" dirty="0"/>
              <a:t>Задание 1. Форматирование текста на Web-странице по образцу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2CC010-3AF2-337D-69D5-B3AE1C779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04211"/>
            <a:ext cx="9601200" cy="5133473"/>
          </a:xfrm>
        </p:spPr>
        <p:txBody>
          <a:bodyPr>
            <a:normAutofit/>
          </a:bodyPr>
          <a:lstStyle/>
          <a:p>
            <a:r>
              <a:rPr lang="ru-RU" b="1" dirty="0"/>
              <a:t>Ход выполнения работы</a:t>
            </a:r>
          </a:p>
          <a:p>
            <a:pPr lvl="0"/>
            <a:r>
              <a:rPr lang="ru-RU" dirty="0"/>
              <a:t>Создайте новую Web-страницу.</a:t>
            </a:r>
          </a:p>
          <a:p>
            <a:pPr lvl="0"/>
            <a:r>
              <a:rPr lang="ru-RU" dirty="0"/>
              <a:t>В элементе &lt;TITLE&gt; укажите название странички «Задание 1. </a:t>
            </a:r>
            <a:r>
              <a:rPr lang="ru-RU" i="1" dirty="0"/>
              <a:t>Форматирование текста на Web-странице по образцу</a:t>
            </a:r>
            <a:r>
              <a:rPr lang="ru-RU" dirty="0"/>
              <a:t>».</a:t>
            </a:r>
          </a:p>
          <a:p>
            <a:pPr lvl="0"/>
            <a:r>
              <a:rPr lang="ru-RU" dirty="0"/>
              <a:t>Отформатируйте следующий текст согласно указаниям, которые даны в скобках курсивом. Используйте линии разного вида и размера.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9557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B53A2-BF25-67B2-85C7-9A6F190D7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100" b="1" dirty="0"/>
              <a:t>Задание 2. Использование линий</a:t>
            </a:r>
            <a:br>
              <a:rPr lang="ru-RU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193A25-6F0A-9E85-7499-8ACE5DC6A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1985"/>
            <a:ext cx="9601200" cy="5305699"/>
          </a:xfrm>
        </p:spPr>
        <p:txBody>
          <a:bodyPr>
            <a:normAutofit/>
          </a:bodyPr>
          <a:lstStyle/>
          <a:p>
            <a:pPr lvl="0"/>
            <a:r>
              <a:rPr lang="ru-RU" dirty="0"/>
              <a:t>Создайте новую Web-страницу.</a:t>
            </a:r>
          </a:p>
          <a:p>
            <a:pPr lvl="0"/>
            <a:r>
              <a:rPr lang="ru-RU" dirty="0"/>
              <a:t>В элементе &lt;TITLE&gt; укажите название странички "Задание 3. Использование линий".</a:t>
            </a:r>
          </a:p>
          <a:p>
            <a:pPr lvl="0"/>
            <a:r>
              <a:rPr lang="ru-RU" dirty="0"/>
              <a:t>Изобразите радугу, используя горизонтальные линии различного цвета (толщина 10 пикселов, длина 50% от ширины экрана, выравнивание по центру).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6184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B3F79-E4BE-387B-E9BE-D0E08AD3B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141055-5CF2-B31C-7A41-C43EFCFCF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100" b="1" dirty="0"/>
              <a:t>Задание 3.</a:t>
            </a:r>
            <a:br>
              <a:rPr lang="ru-RU" dirty="0"/>
            </a:br>
            <a:br>
              <a:rPr lang="ru-RU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1BDA9F-E72E-6932-B12F-652211EFB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31985"/>
            <a:ext cx="9601200" cy="5305699"/>
          </a:xfrm>
        </p:spPr>
        <p:txBody>
          <a:bodyPr>
            <a:normAutofit/>
          </a:bodyPr>
          <a:lstStyle/>
          <a:p>
            <a:pPr lvl="0"/>
            <a:r>
              <a:rPr lang="ru-RU" dirty="0"/>
              <a:t>Создайте новую Web-страницу.</a:t>
            </a:r>
          </a:p>
          <a:p>
            <a:pPr lvl="0"/>
            <a:r>
              <a:rPr lang="ru-RU" dirty="0"/>
              <a:t>В элементе &lt;TITLE&gt; укажите название странички "Задание 4. Домашняя страничка (ваше имя и фамилия)".</a:t>
            </a:r>
          </a:p>
          <a:p>
            <a:pPr lvl="0"/>
            <a:r>
              <a:rPr lang="ru-RU" dirty="0"/>
              <a:t>Напишите HTML-файл, чтобы при его выполнении получился текст следующего содержания: укажите ваши фамилию, имя, отчество, год рождения, название вашего учебного заведения, название специальности, группу. Отразите в нем также следующие сведения: мой город и что мне нравится в нем, мои друзья. Для оформления используйте различные шрифты, стили и способы выравнивания, а также горизонтальные линии.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7431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E7561-79C9-651B-59F0-D3C07DAE5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7C16F-597B-2BA9-21FF-588F19FC1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100" b="1" dirty="0"/>
              <a:t>Задание 4. Форматирование текста на Web-странице по образцу</a:t>
            </a:r>
            <a:br>
              <a:rPr lang="ru-RU" b="1" dirty="0"/>
            </a:br>
            <a:br>
              <a:rPr lang="ru-RU" dirty="0"/>
            </a:br>
            <a:br>
              <a:rPr lang="ru-RU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F22228-B7F1-50E3-A250-706BA95A4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28800"/>
            <a:ext cx="9601200" cy="4908884"/>
          </a:xfrm>
        </p:spPr>
        <p:txBody>
          <a:bodyPr>
            <a:normAutofit/>
          </a:bodyPr>
          <a:lstStyle/>
          <a:p>
            <a:pPr lvl="0"/>
            <a:r>
              <a:rPr lang="ru-RU" dirty="0"/>
              <a:t>Создайте новую Web-страницу.</a:t>
            </a:r>
          </a:p>
          <a:p>
            <a:pPr lvl="0"/>
            <a:r>
              <a:rPr lang="ru-RU" dirty="0"/>
              <a:t>В элементе &lt;TITLE&gt; укажите название странички «Задание 2. </a:t>
            </a:r>
            <a:r>
              <a:rPr lang="ru-RU" i="1" dirty="0"/>
              <a:t>Форматирование текста на Web-странице по образцу</a:t>
            </a:r>
            <a:r>
              <a:rPr lang="ru-RU" dirty="0"/>
              <a:t>».</a:t>
            </a:r>
          </a:p>
          <a:p>
            <a:pPr lvl="0"/>
            <a:r>
              <a:rPr lang="ru-RU" dirty="0"/>
              <a:t>Отформатируйте следующий текст согласно указаниям, которые даны в скобках курсивом. Используйте линии разного вида и размера.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1343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DAA756-9141-A7A5-98B1-FA1578712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Листинг 1</a:t>
            </a:r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8B30B1E7-7633-C422-5AD0-1B9165D966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7958" y="1530329"/>
            <a:ext cx="9312442" cy="508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971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B88806-2A22-176E-7029-5B5908A6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 работы 1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05B7713D-9BC2-9675-96F8-36D6FF64C6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2715821"/>
            <a:ext cx="9601200" cy="272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347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9FC4E-6464-0014-648E-7282C8A35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BE8D23-7114-8B4E-24AE-DDF978122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Листинг 2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CD207B07-DFD2-CBAE-54E4-8DB8F755B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599" y="1480558"/>
            <a:ext cx="9448801" cy="456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DB4F6-7C42-3726-990D-B3C2EE8F4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B5B409-EEB8-9EE5-0C27-A3B3CA235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 работы 2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E1D4BCC3-0EF0-128D-C935-005A54FC83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1462" y="2286000"/>
            <a:ext cx="9361476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987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F6EA2-7374-E5E9-3999-3A462EC63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E7DC52-83A4-E3B3-B8EC-C149742F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Листинг 3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C249F65F-EF2D-7478-F268-9717041BFE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471" y="1748588"/>
            <a:ext cx="11351529" cy="349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70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7D407-8ADF-53C4-7CBF-7305B0B77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61574-68FB-3751-536B-ACFE4AC55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 работы 3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FDC8BA33-015E-04D3-4966-2D27639A2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2922502"/>
            <a:ext cx="9601200" cy="230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080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A51F5-0440-6476-D305-37A031329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313953-5E3F-F17B-B3CD-3F37AD84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Листинг 4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092D77C-63A7-6650-BF87-77D5EA1B04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7558" y="1428750"/>
            <a:ext cx="6355595" cy="494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305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4D77A-2A9F-58AA-7F43-5D082A3C1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4A46E-E433-0DE4-01A7-0A062C658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 работы 4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1AF66C25-373C-3534-12E1-9658D264A0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2108" y="2286000"/>
            <a:ext cx="7740184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739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C1FFA-1299-538C-0778-98C3DA2E4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20ABA8-F3FB-0835-56D8-A64FCCC2F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результате выполнения лабораторной работы я ознакомился с основами HTML, обязательными метками, &amp;- последовательностями, комментариями, способами форматирования текста (шрифта и абзаца), физическими и логическими стилями, горизонтальными линиями.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0694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457FE-E625-E0A7-D7D2-8F5888964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-549442"/>
            <a:ext cx="9601200" cy="45719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8AF855-5046-3477-46B2-77139B0BD6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1599" y="820313"/>
            <a:ext cx="10627895" cy="5301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1800" b="1" dirty="0"/>
              <a:t>Форматирование абзаца</a:t>
            </a:r>
            <a:r>
              <a:rPr lang="ru-RU" sz="1800" dirty="0"/>
              <a:t> — это настройка внешнего вида текста: выравнивание (по левому, правому краю, по центру, по ширине), отступы, интервалы между строками и абзацами.</a:t>
            </a:r>
          </a:p>
          <a:p>
            <a:r>
              <a:rPr lang="ru-RU" sz="1800" b="1" dirty="0"/>
              <a:t>Форматирование шрифта</a:t>
            </a:r>
            <a:r>
              <a:rPr lang="ru-RU" sz="1800" dirty="0"/>
              <a:t> — изменение стиля, размера, цвета, начертания (жирный, курсив, подчёркнутый), а также типа шрифта (например, </a:t>
            </a:r>
            <a:r>
              <a:rPr lang="ru-RU" sz="1800" dirty="0" err="1"/>
              <a:t>Arial</a:t>
            </a:r>
            <a:r>
              <a:rPr lang="ru-RU" sz="1800" dirty="0"/>
              <a:t>, Times New </a:t>
            </a:r>
            <a:r>
              <a:rPr lang="ru-RU" sz="1800" dirty="0" err="1"/>
              <a:t>Roman</a:t>
            </a:r>
            <a:r>
              <a:rPr lang="ru-RU" sz="1800" dirty="0"/>
              <a:t>).</a:t>
            </a:r>
          </a:p>
          <a:p>
            <a:r>
              <a:rPr lang="ru-RU" sz="1800" b="1" dirty="0"/>
              <a:t>Логические стили в HTML</a:t>
            </a:r>
            <a:r>
              <a:rPr lang="ru-RU" sz="1800" dirty="0"/>
              <a:t> — теги, указывающие смысл текста, а не его внешний вид:</a:t>
            </a:r>
            <a:br>
              <a:rPr lang="ru-RU" sz="1800" dirty="0"/>
            </a:br>
            <a:r>
              <a:rPr lang="ru-RU" dirty="0"/>
              <a:t>&lt;</a:t>
            </a:r>
            <a:r>
              <a:rPr lang="ru-RU" dirty="0" err="1"/>
              <a:t>strong</a:t>
            </a:r>
            <a:r>
              <a:rPr lang="ru-RU" dirty="0"/>
              <a:t>&gt;</a:t>
            </a:r>
            <a:r>
              <a:rPr lang="ru-RU" sz="1800" dirty="0"/>
              <a:t> — важный текст,</a:t>
            </a:r>
            <a:br>
              <a:rPr lang="ru-RU" sz="1800" dirty="0"/>
            </a:br>
            <a:r>
              <a:rPr lang="ru-RU" dirty="0"/>
              <a:t>&lt;</a:t>
            </a:r>
            <a:r>
              <a:rPr lang="ru-RU" dirty="0" err="1"/>
              <a:t>em</a:t>
            </a:r>
            <a:r>
              <a:rPr lang="ru-RU" dirty="0"/>
              <a:t>&gt;</a:t>
            </a:r>
            <a:r>
              <a:rPr lang="ru-RU" sz="1800" dirty="0"/>
              <a:t> — выделенный (акцент),</a:t>
            </a:r>
            <a:br>
              <a:rPr lang="ru-RU" sz="1800" dirty="0"/>
            </a:br>
            <a:r>
              <a:rPr lang="ru-RU" dirty="0"/>
              <a:t>&lt;</a:t>
            </a:r>
            <a:r>
              <a:rPr lang="ru-RU" dirty="0" err="1"/>
              <a:t>cite</a:t>
            </a:r>
            <a:r>
              <a:rPr lang="ru-RU" dirty="0"/>
              <a:t>&gt;</a:t>
            </a:r>
            <a:r>
              <a:rPr lang="ru-RU" sz="1800" dirty="0"/>
              <a:t> — цитата,</a:t>
            </a:r>
            <a:br>
              <a:rPr lang="ru-RU" sz="1800" dirty="0"/>
            </a:br>
            <a:r>
              <a:rPr lang="ru-RU" dirty="0"/>
              <a:t>&lt;</a:t>
            </a:r>
            <a:r>
              <a:rPr lang="ru-RU" dirty="0" err="1"/>
              <a:t>code</a:t>
            </a:r>
            <a:r>
              <a:rPr lang="ru-RU" dirty="0"/>
              <a:t>&gt;</a:t>
            </a:r>
            <a:r>
              <a:rPr lang="ru-RU" sz="1800" dirty="0"/>
              <a:t> — программный код и т.д.</a:t>
            </a:r>
          </a:p>
          <a:p>
            <a:r>
              <a:rPr lang="ru-RU" sz="1800" b="1" dirty="0"/>
              <a:t>Комментарии в HTML</a:t>
            </a:r>
            <a:r>
              <a:rPr lang="ru-RU" sz="1800" dirty="0"/>
              <a:t> — текст, не отображаемый в браузере, используется для пояснений:</a:t>
            </a:r>
            <a:br>
              <a:rPr lang="ru-RU" sz="1800" dirty="0"/>
            </a:br>
            <a:r>
              <a:rPr lang="ru-RU" dirty="0"/>
              <a:t>&lt;!-- Это комментарий --&gt;</a:t>
            </a:r>
            <a:endParaRPr lang="ru-RU" sz="1800" dirty="0"/>
          </a:p>
          <a:p>
            <a:r>
              <a:rPr lang="ru-RU" sz="1800" b="1" dirty="0"/>
              <a:t>Горизонтальные линии</a:t>
            </a:r>
            <a:r>
              <a:rPr lang="ru-RU" sz="1800" dirty="0"/>
              <a:t> — тег </a:t>
            </a:r>
            <a:r>
              <a:rPr lang="ru-RU" dirty="0"/>
              <a:t>&lt;</a:t>
            </a:r>
            <a:r>
              <a:rPr lang="ru-RU" dirty="0" err="1"/>
              <a:t>hr</a:t>
            </a:r>
            <a:r>
              <a:rPr lang="ru-RU" dirty="0"/>
              <a:t>&gt;</a:t>
            </a:r>
            <a:r>
              <a:rPr lang="ru-RU" sz="1800" dirty="0"/>
              <a:t> создаёт линию-разделитель между элементами страницы.</a:t>
            </a:r>
          </a:p>
          <a:p>
            <a:r>
              <a:rPr lang="ru-RU" sz="1800" b="1" dirty="0"/>
              <a:t>Escape-последовательности</a:t>
            </a:r>
            <a:r>
              <a:rPr lang="ru-RU" sz="1800" dirty="0"/>
              <a:t> — специальные символы, записываемые через </a:t>
            </a:r>
            <a:r>
              <a:rPr lang="ru-RU" dirty="0"/>
              <a:t>&amp;</a:t>
            </a:r>
            <a:r>
              <a:rPr lang="ru-RU" sz="1800" dirty="0"/>
              <a:t> и </a:t>
            </a:r>
            <a:r>
              <a:rPr lang="ru-RU" dirty="0"/>
              <a:t>;</a:t>
            </a:r>
            <a:r>
              <a:rPr lang="ru-RU" sz="1800" dirty="0"/>
              <a:t>, чтобы отобразить зарезервированные символы, например:</a:t>
            </a:r>
            <a:br>
              <a:rPr lang="ru-RU" sz="1800" dirty="0"/>
            </a:br>
            <a:r>
              <a:rPr lang="ru-RU" dirty="0"/>
              <a:t>&amp;</a:t>
            </a:r>
            <a:r>
              <a:rPr lang="ru-RU" dirty="0" err="1"/>
              <a:t>lt</a:t>
            </a:r>
            <a:r>
              <a:rPr lang="ru-RU" dirty="0"/>
              <a:t>;</a:t>
            </a:r>
            <a:r>
              <a:rPr lang="ru-RU" sz="1800" dirty="0"/>
              <a:t> — </a:t>
            </a:r>
            <a:r>
              <a:rPr lang="ru-RU" dirty="0"/>
              <a:t>&lt;</a:t>
            </a:r>
            <a:r>
              <a:rPr lang="ru-RU" sz="1800" dirty="0"/>
              <a:t>, </a:t>
            </a:r>
            <a:r>
              <a:rPr lang="ru-RU" dirty="0"/>
              <a:t>&amp;</a:t>
            </a:r>
            <a:r>
              <a:rPr lang="ru-RU" dirty="0" err="1"/>
              <a:t>gt</a:t>
            </a:r>
            <a:r>
              <a:rPr lang="ru-RU" dirty="0"/>
              <a:t>;</a:t>
            </a:r>
            <a:r>
              <a:rPr lang="ru-RU" sz="1800" dirty="0"/>
              <a:t> — </a:t>
            </a:r>
            <a:r>
              <a:rPr lang="ru-RU" dirty="0"/>
              <a:t>&gt;</a:t>
            </a:r>
            <a:r>
              <a:rPr lang="ru-RU" sz="1800" dirty="0"/>
              <a:t>, </a:t>
            </a:r>
            <a:r>
              <a:rPr lang="ru-RU" dirty="0"/>
              <a:t>&amp;</a:t>
            </a:r>
            <a:r>
              <a:rPr lang="ru-RU" dirty="0" err="1"/>
              <a:t>amp</a:t>
            </a:r>
            <a:r>
              <a:rPr lang="ru-RU" dirty="0"/>
              <a:t>;</a:t>
            </a:r>
            <a:r>
              <a:rPr lang="ru-RU" sz="1800" dirty="0"/>
              <a:t> — </a:t>
            </a:r>
            <a:r>
              <a:rPr lang="ru-RU" dirty="0"/>
              <a:t>&amp;</a:t>
            </a:r>
            <a:r>
              <a:rPr lang="ru-RU" sz="1800" dirty="0"/>
              <a:t>, </a:t>
            </a:r>
            <a:r>
              <a:rPr lang="ru-RU" dirty="0"/>
              <a:t>&amp;</a:t>
            </a:r>
            <a:r>
              <a:rPr lang="ru-RU" dirty="0" err="1"/>
              <a:t>nbsp</a:t>
            </a:r>
            <a:r>
              <a:rPr lang="ru-RU" dirty="0"/>
              <a:t>;</a:t>
            </a:r>
            <a:r>
              <a:rPr lang="ru-RU" sz="1800" dirty="0"/>
              <a:t> — неразрывный пробел.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021042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27</TotalTime>
  <Words>519</Words>
  <Application>Microsoft Office PowerPoint</Application>
  <PresentationFormat>Широкоэкранный</PresentationFormat>
  <Paragraphs>36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Franklin Gothic Book</vt:lpstr>
      <vt:lpstr>Уголки</vt:lpstr>
      <vt:lpstr>Лабораторная работа № 2 форматирование текста </vt:lpstr>
      <vt:lpstr>Задание 1. Форматирование текста на Web-странице по образцу </vt:lpstr>
      <vt:lpstr>Задание 2. Использование линий  </vt:lpstr>
      <vt:lpstr>Задание 3.   </vt:lpstr>
      <vt:lpstr>Задание 4. Форматирование текста на Web-странице по образцу    </vt:lpstr>
      <vt:lpstr>Листинг 1</vt:lpstr>
      <vt:lpstr>Результат работы 1</vt:lpstr>
      <vt:lpstr>Листинг 2</vt:lpstr>
      <vt:lpstr>Результат работы 2</vt:lpstr>
      <vt:lpstr>Листинг 3</vt:lpstr>
      <vt:lpstr>Результат работы 3</vt:lpstr>
      <vt:lpstr>Листинг 4</vt:lpstr>
      <vt:lpstr>Результат работы 4</vt:lpstr>
      <vt:lpstr>Вывод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</cp:revision>
  <dcterms:created xsi:type="dcterms:W3CDTF">2025-10-10T10:19:21Z</dcterms:created>
  <dcterms:modified xsi:type="dcterms:W3CDTF">2025-11-06T11:57:26Z</dcterms:modified>
</cp:coreProperties>
</file>